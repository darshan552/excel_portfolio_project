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5" autoAdjust="0"/>
    <p:restoredTop sz="94660"/>
  </p:normalViewPr>
  <p:slideViewPr>
    <p:cSldViewPr snapToGrid="0">
      <p:cViewPr varScale="1">
        <p:scale>
          <a:sx n="95" d="100"/>
          <a:sy n="95" d="100"/>
        </p:scale>
        <p:origin x="58" y="13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nandi\Downloads\Vrinda%20Store%20Data%20Analysis.csv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nandi\Downloads\Vrinda%20Store%20Data%20Analysis.csv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nandi\Downloads\Vrinda%20Store%20Data%20Analysis.csv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nandi\Downloads\Vrinda%20Store%20Data%20Analysis.csv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nandi\Downloads\Vrinda%20Store%20Data%20Analysis.csv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nandi\Downloads\Vrinda%20Store%20Data%20Analysis.csv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[Vrinda Store Data Analysis.csv.xlsx]Order VS Sales!PivotTable1</c:name>
    <c:fmtId val="22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/>
              <a:t>Orders VS Sales </a:t>
            </a:r>
          </a:p>
        </c:rich>
      </c:tx>
      <c:layout>
        <c:manualLayout>
          <c:xMode val="edge"/>
          <c:yMode val="edge"/>
          <c:x val="0.15499359313041547"/>
          <c:y val="3.8986357795928822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0.11188994144817516"/>
          <c:y val="0.18272345112345412"/>
          <c:w val="0.76523668811999845"/>
          <c:h val="0.6972995042286380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'Order VS Sales'!$B$3</c:f>
              <c:strCache>
                <c:ptCount val="1"/>
                <c:pt idx="0">
                  <c:v>Sum of Amount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'Order VS Sales'!$A$4:$A$15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'Order VS Sales'!$B$4:$B$15</c:f>
              <c:numCache>
                <c:formatCode>General</c:formatCode>
                <c:ptCount val="12"/>
                <c:pt idx="0">
                  <c:v>1820601</c:v>
                </c:pt>
                <c:pt idx="1">
                  <c:v>1875932</c:v>
                </c:pt>
                <c:pt idx="2">
                  <c:v>1928066</c:v>
                </c:pt>
                <c:pt idx="3">
                  <c:v>1829263</c:v>
                </c:pt>
                <c:pt idx="4">
                  <c:v>1797822</c:v>
                </c:pt>
                <c:pt idx="5">
                  <c:v>1750966</c:v>
                </c:pt>
                <c:pt idx="6">
                  <c:v>1772300</c:v>
                </c:pt>
                <c:pt idx="7">
                  <c:v>1808505</c:v>
                </c:pt>
                <c:pt idx="8">
                  <c:v>1688871</c:v>
                </c:pt>
                <c:pt idx="9">
                  <c:v>1666662</c:v>
                </c:pt>
                <c:pt idx="10">
                  <c:v>1615356</c:v>
                </c:pt>
                <c:pt idx="11">
                  <c:v>1622033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12E-48A2-9D00-FD4D95CF2D2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493483552"/>
        <c:axId val="1493486912"/>
      </c:barChart>
      <c:lineChart>
        <c:grouping val="standard"/>
        <c:varyColors val="0"/>
        <c:ser>
          <c:idx val="1"/>
          <c:order val="1"/>
          <c:tx>
            <c:strRef>
              <c:f>'Order VS Sales'!$C$3</c:f>
              <c:strCache>
                <c:ptCount val="1"/>
                <c:pt idx="0">
                  <c:v>Count of Order ID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'Order VS Sales'!$A$4:$A$15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'Order VS Sales'!$C$4:$C$15</c:f>
              <c:numCache>
                <c:formatCode>General</c:formatCode>
                <c:ptCount val="12"/>
                <c:pt idx="0">
                  <c:v>2702</c:v>
                </c:pt>
                <c:pt idx="1">
                  <c:v>2750</c:v>
                </c:pt>
                <c:pt idx="2">
                  <c:v>2819</c:v>
                </c:pt>
                <c:pt idx="3">
                  <c:v>2685</c:v>
                </c:pt>
                <c:pt idx="4">
                  <c:v>2617</c:v>
                </c:pt>
                <c:pt idx="5">
                  <c:v>2597</c:v>
                </c:pt>
                <c:pt idx="6">
                  <c:v>2579</c:v>
                </c:pt>
                <c:pt idx="7">
                  <c:v>2617</c:v>
                </c:pt>
                <c:pt idx="8">
                  <c:v>2490</c:v>
                </c:pt>
                <c:pt idx="9">
                  <c:v>2424</c:v>
                </c:pt>
                <c:pt idx="10">
                  <c:v>2383</c:v>
                </c:pt>
                <c:pt idx="11">
                  <c:v>2384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F12E-48A2-9D00-FD4D95CF2D2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493489312"/>
        <c:axId val="1493488832"/>
      </c:lineChart>
      <c:catAx>
        <c:axId val="149348355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93486912"/>
        <c:crosses val="autoZero"/>
        <c:auto val="1"/>
        <c:lblAlgn val="ctr"/>
        <c:lblOffset val="100"/>
        <c:noMultiLvlLbl val="0"/>
      </c:catAx>
      <c:valAx>
        <c:axId val="1493486912"/>
        <c:scaling>
          <c:orientation val="minMax"/>
        </c:scaling>
        <c:delete val="0"/>
        <c:axPos val="l"/>
        <c:numFmt formatCode="0.00,,&quot;M&quot;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93483552"/>
        <c:crosses val="autoZero"/>
        <c:crossBetween val="between"/>
      </c:valAx>
      <c:valAx>
        <c:axId val="1493488832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93489312"/>
        <c:crosses val="max"/>
        <c:crossBetween val="between"/>
      </c:valAx>
      <c:catAx>
        <c:axId val="1493489312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493488832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40289936365393891"/>
          <c:y val="2.316331387192349E-2"/>
          <c:w val="0.47117727349782829"/>
          <c:h val="0.1096498902549462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[Vrinda Store Data Analysis.csv.xlsx]Order Status!PivotTable3</c:name>
    <c:fmtId val="22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Order</a:t>
            </a:r>
            <a:r>
              <a:rPr lang="en-US" baseline="0"/>
              <a:t> Stauts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1"/>
        <c:spPr>
          <a:solidFill>
            <a:schemeClr val="accent3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1.0101010101010102E-2"/>
              <c:y val="-1.7993401866433362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noAutofit/>
            </a:bodyPr>
            <a:lstStyle/>
            <a:p>
              <a:pPr>
                <a:defRPr sz="9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  <c15:layout>
                <c:manualLayout>
                  <c:w val="0.14112913916063521"/>
                  <c:h val="0.135249343832021"/>
                </c:manualLayout>
              </c15:layout>
            </c:ext>
          </c:extLst>
        </c:dLbl>
      </c:pivotFmt>
      <c:pivotFmt>
        <c:idx val="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noAutofit/>
            </a:bodyPr>
            <a:lstStyle/>
            <a:p>
              <a:pPr>
                <a:defRPr sz="9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  <c15:layout>
                <c:manualLayout>
                  <c:w val="0.14097616585805561"/>
                  <c:h val="0.18154564012831728"/>
                </c:manualLayout>
              </c15:layout>
            </c:ext>
          </c:extLst>
        </c:dLbl>
      </c:pivotFmt>
      <c:pivotFmt>
        <c:idx val="3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4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noAutofit/>
            </a:bodyPr>
            <a:lstStyle/>
            <a:p>
              <a:pPr>
                <a:defRPr sz="9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  <c15:layout>
                <c:manualLayout>
                  <c:w val="0.14097616585805561"/>
                  <c:h val="0.18154564012831728"/>
                </c:manualLayout>
              </c15:layout>
            </c:ext>
          </c:extLst>
        </c:dLbl>
      </c:pivotFmt>
      <c:pivotFmt>
        <c:idx val="5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6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1.0101010101010102E-2"/>
              <c:y val="-1.7993401866433362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noAutofit/>
            </a:bodyPr>
            <a:lstStyle/>
            <a:p>
              <a:pPr>
                <a:defRPr sz="9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  <c15:layout>
                <c:manualLayout>
                  <c:w val="0.14112913916063521"/>
                  <c:h val="0.135249343832021"/>
                </c:manualLayout>
              </c15:layout>
            </c:ext>
          </c:extLst>
        </c:dLbl>
      </c:pivotFmt>
      <c:pivotFmt>
        <c:idx val="7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8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9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noAutofit/>
            </a:bodyPr>
            <a:lstStyle/>
            <a:p>
              <a:pPr>
                <a:defRPr sz="9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  <c15:layout>
                <c:manualLayout>
                  <c:w val="0.14097616585805561"/>
                  <c:h val="0.18154564012831728"/>
                </c:manualLayout>
              </c15:layout>
            </c:ext>
          </c:extLst>
        </c:dLbl>
      </c:pivotFmt>
      <c:pivotFmt>
        <c:idx val="1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9.2400112000135762E-3"/>
              <c:y val="-9.833926833068013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noAutofit/>
            </a:bodyPr>
            <a:lstStyle/>
            <a:p>
              <a:pPr>
                <a:defRPr sz="9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  <c15:layout>
                <c:manualLayout>
                  <c:w val="0.14112913916063521"/>
                  <c:h val="0.135249343832021"/>
                </c:manualLayout>
              </c15:layout>
            </c:ext>
          </c:extLst>
        </c:dLbl>
      </c:pivotFmt>
      <c:pivotFmt>
        <c:idx val="1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3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14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noAutofit/>
            </a:bodyPr>
            <a:lstStyle/>
            <a:p>
              <a:pPr>
                <a:defRPr sz="9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  <c15:layout>
                <c:manualLayout>
                  <c:w val="0.14097616585805561"/>
                  <c:h val="0.18154564012831728"/>
                </c:manualLayout>
              </c15:layout>
            </c:ext>
          </c:extLst>
        </c:dLbl>
      </c:pivotFmt>
      <c:pivotFmt>
        <c:idx val="15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6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9.2400112000135762E-3"/>
              <c:y val="-9.833926833068013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noAutofit/>
            </a:bodyPr>
            <a:lstStyle/>
            <a:p>
              <a:pPr>
                <a:defRPr sz="9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  <c15:layout>
                <c:manualLayout>
                  <c:w val="0.14112913916063521"/>
                  <c:h val="0.135249343832021"/>
                </c:manualLayout>
              </c15:layout>
            </c:ext>
          </c:extLst>
        </c:dLbl>
      </c:pivotFmt>
      <c:pivotFmt>
        <c:idx val="17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8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19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noAutofit/>
            </a:bodyPr>
            <a:lstStyle/>
            <a:p>
              <a:pPr>
                <a:defRPr sz="9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  <c15:layout>
                <c:manualLayout>
                  <c:w val="0.14097616585805561"/>
                  <c:h val="0.18154564012831728"/>
                </c:manualLayout>
              </c15:layout>
            </c:ext>
          </c:extLst>
        </c:dLbl>
      </c:pivotFmt>
      <c:pivotFmt>
        <c:idx val="2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2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9.2400112000135762E-3"/>
              <c:y val="-9.833926833068013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noAutofit/>
            </a:bodyPr>
            <a:lstStyle/>
            <a:p>
              <a:pPr>
                <a:defRPr sz="9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  <c15:layout>
                <c:manualLayout>
                  <c:w val="0.14112913916063521"/>
                  <c:h val="0.135249343832021"/>
                </c:manualLayout>
              </c15:layout>
            </c:ext>
          </c:extLst>
        </c:dLbl>
      </c:pivotFmt>
      <c:pivotFmt>
        <c:idx val="2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23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24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noAutofit/>
            </a:bodyPr>
            <a:lstStyle/>
            <a:p>
              <a:pPr>
                <a:defRPr sz="9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  <c15:layout>
                <c:manualLayout>
                  <c:w val="0.14097616585805561"/>
                  <c:h val="0.18154564012831728"/>
                </c:manualLayout>
              </c15:layout>
            </c:ext>
          </c:extLst>
        </c:dLbl>
      </c:pivotFmt>
      <c:pivotFmt>
        <c:idx val="25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26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9.2400112000135762E-3"/>
              <c:y val="-9.833926833068013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noAutofit/>
            </a:bodyPr>
            <a:lstStyle/>
            <a:p>
              <a:pPr>
                <a:defRPr sz="9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  <c15:layout>
                <c:manualLayout>
                  <c:w val="0.14112913916063521"/>
                  <c:h val="0.135249343832021"/>
                </c:manualLayout>
              </c15:layout>
            </c:ext>
          </c:extLst>
        </c:dLbl>
      </c:pivotFmt>
      <c:pivotFmt>
        <c:idx val="27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</c:pivotFmts>
    <c:plotArea>
      <c:layout>
        <c:manualLayout>
          <c:layoutTarget val="inner"/>
          <c:xMode val="edge"/>
          <c:yMode val="edge"/>
          <c:x val="0.29833447325297191"/>
          <c:y val="0.2820522990181783"/>
          <c:w val="0.36475048779302299"/>
          <c:h val="0.65362379702537188"/>
        </c:manualLayout>
      </c:layout>
      <c:pieChart>
        <c:varyColors val="1"/>
        <c:ser>
          <c:idx val="0"/>
          <c:order val="0"/>
          <c:tx>
            <c:strRef>
              <c:f>'Order Status'!$B$3</c:f>
              <c:strCache>
                <c:ptCount val="1"/>
                <c:pt idx="0">
                  <c:v>Total</c:v>
                </c:pt>
              </c:strCache>
            </c:strRef>
          </c:tx>
          <c:explosion val="28"/>
          <c:dPt>
            <c:idx val="0"/>
            <c:bubble3D val="0"/>
            <c:explosion val="2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86D2-4504-8F52-583843C25F64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86D2-4504-8F52-583843C25F64}"/>
              </c:ext>
            </c:extLst>
          </c:dPt>
          <c:dPt>
            <c:idx val="2"/>
            <c:bubble3D val="0"/>
            <c:explosion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86D2-4504-8F52-583843C25F64}"/>
              </c:ext>
            </c:extLst>
          </c:dPt>
          <c:dPt>
            <c:idx val="3"/>
            <c:bubble3D val="0"/>
            <c:explosion val="13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86D2-4504-8F52-583843C25F64}"/>
              </c:ext>
            </c:extLst>
          </c:dP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clip" horzOverflow="clip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  <a:noFill/>
                    <a:ln>
                      <a:noFill/>
                    </a:ln>
                  </c15:spPr>
                  <c15:layout>
                    <c:manualLayout>
                      <c:w val="0.14097616585805561"/>
                      <c:h val="0.1815456401283172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86D2-4504-8F52-583843C25F64}"/>
                </c:ext>
              </c:extLst>
            </c:dLbl>
            <c:dLbl>
              <c:idx val="2"/>
              <c:layout>
                <c:manualLayout>
                  <c:x val="-9.2400112000135762E-3"/>
                  <c:y val="-9.833926833068013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clip" horzOverflow="clip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  <a:noFill/>
                    <a:ln>
                      <a:noFill/>
                    </a:ln>
                  </c15:spPr>
                  <c15:layout>
                    <c:manualLayout>
                      <c:w val="0.14112913916063521"/>
                      <c:h val="0.135249343832021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5-86D2-4504-8F52-583843C25F6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estFit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</c:ext>
            </c:extLst>
          </c:dLbls>
          <c:cat>
            <c:strRef>
              <c:f>'Order Status'!$A$4:$A$7</c:f>
              <c:strCache>
                <c:ptCount val="4"/>
                <c:pt idx="0">
                  <c:v>Cancelled</c:v>
                </c:pt>
                <c:pt idx="1">
                  <c:v>Delivered</c:v>
                </c:pt>
                <c:pt idx="2">
                  <c:v>Refunded</c:v>
                </c:pt>
                <c:pt idx="3">
                  <c:v>Returned</c:v>
                </c:pt>
              </c:strCache>
            </c:strRef>
          </c:cat>
          <c:val>
            <c:numRef>
              <c:f>'Order Status'!$B$4:$B$7</c:f>
              <c:numCache>
                <c:formatCode>General</c:formatCode>
                <c:ptCount val="4"/>
                <c:pt idx="0">
                  <c:v>844</c:v>
                </c:pt>
                <c:pt idx="1">
                  <c:v>28641</c:v>
                </c:pt>
                <c:pt idx="2">
                  <c:v>517</c:v>
                </c:pt>
                <c:pt idx="3">
                  <c:v>1045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86D2-4504-8F52-583843C25F64}"/>
            </c:ext>
          </c:extLst>
        </c:ser>
        <c:dLbls>
          <c:dLblPos val="bestFit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103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[Vrinda Store Data Analysis.csv.xlsx]States!PivotTable4</c:name>
    <c:fmtId val="22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Sales</a:t>
            </a:r>
            <a:r>
              <a:rPr lang="en-US" baseline="0"/>
              <a:t>: Top 5 Sales 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numFmt formatCode="0.00,,&quot;M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numFmt formatCode="0.00,,&quot;M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numFmt formatCode="0.00,,&quot;M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numFmt formatCode="0.00,,&quot;M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numFmt formatCode="0.00,,&quot;M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numFmt formatCode="0.00,,&quot;M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0.19255089250141333"/>
          <c:y val="0.21978440914226757"/>
          <c:w val="0.74280711589712844"/>
          <c:h val="0.62238753780878919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States!$B$3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numFmt formatCode="0.00,,&quot;M&quot;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States!$A$4:$A$8</c:f>
              <c:strCache>
                <c:ptCount val="5"/>
                <c:pt idx="0">
                  <c:v>MAHARASHTRA</c:v>
                </c:pt>
                <c:pt idx="1">
                  <c:v>KARNATAKA</c:v>
                </c:pt>
                <c:pt idx="2">
                  <c:v>UTTAR PRADESH</c:v>
                </c:pt>
                <c:pt idx="3">
                  <c:v>TELANGANA</c:v>
                </c:pt>
                <c:pt idx="4">
                  <c:v>TAMIL NADU</c:v>
                </c:pt>
              </c:strCache>
            </c:strRef>
          </c:cat>
          <c:val>
            <c:numRef>
              <c:f>States!$B$4:$B$8</c:f>
              <c:numCache>
                <c:formatCode>General</c:formatCode>
                <c:ptCount val="5"/>
                <c:pt idx="0">
                  <c:v>2990221</c:v>
                </c:pt>
                <c:pt idx="1">
                  <c:v>2646358</c:v>
                </c:pt>
                <c:pt idx="2">
                  <c:v>2104659</c:v>
                </c:pt>
                <c:pt idx="3">
                  <c:v>1712439</c:v>
                </c:pt>
                <c:pt idx="4">
                  <c:v>1678877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78B-46F4-841B-B945CA6DA0EE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82"/>
        <c:axId val="1493492672"/>
        <c:axId val="1493493152"/>
      </c:barChart>
      <c:catAx>
        <c:axId val="149349267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93493152"/>
        <c:crosses val="autoZero"/>
        <c:auto val="1"/>
        <c:lblAlgn val="ctr"/>
        <c:lblOffset val="100"/>
        <c:noMultiLvlLbl val="0"/>
      </c:catAx>
      <c:valAx>
        <c:axId val="1493493152"/>
        <c:scaling>
          <c:orientation val="minMax"/>
        </c:scaling>
        <c:delete val="0"/>
        <c:axPos val="b"/>
        <c:numFmt formatCode="0.00,,&quot;M&quot;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9349267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[Vrinda Store Data Analysis.csv.xlsx]Order by Age and Gender!PivotTable5</c:name>
    <c:fmtId val="22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/>
              <a:t>Orders:</a:t>
            </a:r>
            <a:r>
              <a:rPr lang="en-IN" baseline="0"/>
              <a:t> Age VS Gender</a:t>
            </a:r>
            <a:endParaRPr lang="en-IN"/>
          </a:p>
        </c:rich>
      </c:tx>
      <c:layout>
        <c:manualLayout>
          <c:xMode val="edge"/>
          <c:yMode val="edge"/>
          <c:x val="0.11968744531933509"/>
          <c:y val="3.240740740740740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0.17434076487028574"/>
          <c:y val="0.2706799883463078"/>
          <c:w val="0.61315827070305018"/>
          <c:h val="0.5600208249411999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'Order by Age and Gender'!$B$3:$B$4</c:f>
              <c:strCache>
                <c:ptCount val="1"/>
                <c:pt idx="0">
                  <c:v>Men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'Order by Age and Gender'!$A$5:$A$7</c:f>
              <c:strCache>
                <c:ptCount val="3"/>
                <c:pt idx="0">
                  <c:v>Adult</c:v>
                </c:pt>
                <c:pt idx="1">
                  <c:v>Senior</c:v>
                </c:pt>
                <c:pt idx="2">
                  <c:v>Teenager</c:v>
                </c:pt>
              </c:strCache>
            </c:strRef>
          </c:cat>
          <c:val>
            <c:numRef>
              <c:f>'Order by Age and Gender'!$B$5:$B$7</c:f>
              <c:numCache>
                <c:formatCode>0.00%</c:formatCode>
                <c:ptCount val="3"/>
                <c:pt idx="0">
                  <c:v>0.15660128192740039</c:v>
                </c:pt>
                <c:pt idx="1">
                  <c:v>5.7235803781363739E-2</c:v>
                </c:pt>
                <c:pt idx="2">
                  <c:v>9.1957354977936681E-2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7E1-4CA0-8B48-270513665332}"/>
            </c:ext>
          </c:extLst>
        </c:ser>
        <c:ser>
          <c:idx val="1"/>
          <c:order val="1"/>
          <c:tx>
            <c:strRef>
              <c:f>'Order by Age and Gender'!$C$3:$C$4</c:f>
              <c:strCache>
                <c:ptCount val="1"/>
                <c:pt idx="0">
                  <c:v>Women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'Order by Age and Gender'!$A$5:$A$7</c:f>
              <c:strCache>
                <c:ptCount val="3"/>
                <c:pt idx="0">
                  <c:v>Adult</c:v>
                </c:pt>
                <c:pt idx="1">
                  <c:v>Senior</c:v>
                </c:pt>
                <c:pt idx="2">
                  <c:v>Teenager</c:v>
                </c:pt>
              </c:strCache>
            </c:strRef>
          </c:cat>
          <c:val>
            <c:numRef>
              <c:f>'Order by Age and Gender'!$C$5:$C$7</c:f>
              <c:numCache>
                <c:formatCode>0.00%</c:formatCode>
                <c:ptCount val="3"/>
                <c:pt idx="0">
                  <c:v>0.34982445969014719</c:v>
                </c:pt>
                <c:pt idx="1">
                  <c:v>0.13308854317647437</c:v>
                </c:pt>
                <c:pt idx="2">
                  <c:v>0.2112925564466776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7E1-4CA0-8B48-270513665332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153911888"/>
        <c:axId val="1153914768"/>
      </c:barChart>
      <c:catAx>
        <c:axId val="115391188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53914768"/>
        <c:crosses val="autoZero"/>
        <c:auto val="1"/>
        <c:lblAlgn val="ctr"/>
        <c:lblOffset val="100"/>
        <c:noMultiLvlLbl val="0"/>
      </c:catAx>
      <c:valAx>
        <c:axId val="1153914768"/>
        <c:scaling>
          <c:orientation val="minMax"/>
        </c:scaling>
        <c:delete val="0"/>
        <c:axPos val="l"/>
        <c:numFmt formatCode="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5391188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53045384951881014"/>
          <c:y val="2.3934456109652932E-2"/>
          <c:w val="0.42510170603674541"/>
          <c:h val="9.1436278798483497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[Vrinda Store Data Analysis.csv.xlsx]Channels!PivotTable6</c:name>
    <c:fmtId val="22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Orders</a:t>
            </a:r>
            <a:r>
              <a:rPr lang="en-US" baseline="0"/>
              <a:t>: Channels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solidFill>
              <a:sysClr val="window" lastClr="FFFFFF"/>
            </a:solidFill>
            <a:ln>
              <a:noFill/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solidFill>
              <a:sysClr val="window" lastClr="FFFFFF"/>
            </a:solidFill>
            <a:ln>
              <a:noFill/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3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4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5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6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7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8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9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solidFill>
              <a:sysClr val="window" lastClr="FFFFFF"/>
            </a:solidFill>
            <a:ln>
              <a:noFill/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1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3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4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5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6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7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solidFill>
              <a:sysClr val="window" lastClr="FFFFFF"/>
            </a:solidFill>
            <a:ln>
              <a:noFill/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18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9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2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2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2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23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24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25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solidFill>
              <a:sysClr val="window" lastClr="FFFFFF"/>
            </a:solidFill>
            <a:ln>
              <a:noFill/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26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27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28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29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3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3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3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33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solidFill>
              <a:sysClr val="window" lastClr="FFFFFF"/>
            </a:solidFill>
            <a:ln>
              <a:noFill/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34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35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36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37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38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39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4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</c:pivotFmts>
    <c:plotArea>
      <c:layout/>
      <c:pieChart>
        <c:varyColors val="1"/>
        <c:ser>
          <c:idx val="0"/>
          <c:order val="0"/>
          <c:tx>
            <c:strRef>
              <c:f>Channels!$B$3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BB0B-4FDD-81DB-FC1200EA2224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BB0B-4FDD-81DB-FC1200EA2224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BB0B-4FDD-81DB-FC1200EA2224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BB0B-4FDD-81DB-FC1200EA2224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BB0B-4FDD-81DB-FC1200EA2224}"/>
              </c:ext>
            </c:extLst>
          </c:dPt>
          <c:dPt>
            <c:idx val="5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BB0B-4FDD-81DB-FC1200EA2224}"/>
              </c:ext>
            </c:extLst>
          </c:dPt>
          <c:dPt>
            <c:idx val="6"/>
            <c:bubble3D val="0"/>
            <c:spPr>
              <a:solidFill>
                <a:schemeClr val="accent1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D-BB0B-4FDD-81DB-FC1200EA2224}"/>
              </c:ext>
            </c:extLst>
          </c:dPt>
          <c:dLbls>
            <c:spPr>
              <a:solidFill>
                <a:sysClr val="window" lastClr="FFFFFF"/>
              </a:solidFill>
              <a:ln>
                <a:noFill/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</c:ext>
            </c:extLst>
          </c:dLbls>
          <c:cat>
            <c:strRef>
              <c:f>Channels!$A$4:$A$10</c:f>
              <c:strCache>
                <c:ptCount val="7"/>
                <c:pt idx="0">
                  <c:v>Ajio</c:v>
                </c:pt>
                <c:pt idx="1">
                  <c:v>Amazon</c:v>
                </c:pt>
                <c:pt idx="2">
                  <c:v>Flipkart</c:v>
                </c:pt>
                <c:pt idx="3">
                  <c:v>Meesho</c:v>
                </c:pt>
                <c:pt idx="4">
                  <c:v>Myntra</c:v>
                </c:pt>
                <c:pt idx="5">
                  <c:v>Nalli</c:v>
                </c:pt>
                <c:pt idx="6">
                  <c:v>Others</c:v>
                </c:pt>
              </c:strCache>
            </c:strRef>
          </c:cat>
          <c:val>
            <c:numRef>
              <c:f>Channels!$B$4:$B$10</c:f>
              <c:numCache>
                <c:formatCode>0.00%</c:formatCode>
                <c:ptCount val="7"/>
                <c:pt idx="0">
                  <c:v>6.2196025380874161E-2</c:v>
                </c:pt>
                <c:pt idx="1">
                  <c:v>0.35481689052082327</c:v>
                </c:pt>
                <c:pt idx="2">
                  <c:v>0.21589847650336585</c:v>
                </c:pt>
                <c:pt idx="3">
                  <c:v>4.5028505169581602E-2</c:v>
                </c:pt>
                <c:pt idx="4">
                  <c:v>0.23364576287564015</c:v>
                </c:pt>
                <c:pt idx="5">
                  <c:v>4.7798499049827678E-2</c:v>
                </c:pt>
                <c:pt idx="6">
                  <c:v>4.0615840499887271E-2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BB0B-4FDD-81DB-FC1200EA222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[Vrinda Store Data Analysis.csv.xlsx]Men VS Women!PivotTable2</c:name>
    <c:fmtId val="30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Sales</a:t>
            </a:r>
            <a:r>
              <a:rPr lang="en-US" baseline="0"/>
              <a:t> : Men VS Women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bg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bg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3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4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bg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5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6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7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bg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8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9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bg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1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3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bg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14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5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</c:pivotFmts>
    <c:plotArea>
      <c:layout>
        <c:manualLayout>
          <c:layoutTarget val="inner"/>
          <c:xMode val="edge"/>
          <c:yMode val="edge"/>
          <c:x val="0.25012510936132981"/>
          <c:y val="0.15319444444444447"/>
          <c:w val="0.46641666666666665"/>
          <c:h val="0.77736111111111106"/>
        </c:manualLayout>
      </c:layout>
      <c:pieChart>
        <c:varyColors val="1"/>
        <c:ser>
          <c:idx val="0"/>
          <c:order val="0"/>
          <c:tx>
            <c:strRef>
              <c:f>'Men VS Women'!$B$3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C65A-4CD9-B497-E9B8A82A84E1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C65A-4CD9-B497-E9B8A82A84E1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bg2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</c:ext>
            </c:extLst>
          </c:dLbls>
          <c:cat>
            <c:strRef>
              <c:f>'Men VS Women'!$A$4:$A$5</c:f>
              <c:strCache>
                <c:ptCount val="2"/>
                <c:pt idx="0">
                  <c:v>Men</c:v>
                </c:pt>
                <c:pt idx="1">
                  <c:v>Women</c:v>
                </c:pt>
              </c:strCache>
            </c:strRef>
          </c:cat>
          <c:val>
            <c:numRef>
              <c:f>'Men VS Women'!$B$4:$B$5</c:f>
              <c:numCache>
                <c:formatCode>General</c:formatCode>
                <c:ptCount val="2"/>
                <c:pt idx="0">
                  <c:v>7613604</c:v>
                </c:pt>
                <c:pt idx="1">
                  <c:v>13562773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C65A-4CD9-B497-E9B8A82A84E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14DACB-411F-0D34-FC04-ABEAE8B0A7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316C79D-BABC-33AB-FACB-31F4CDA740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2F3E85-D14D-12DD-3342-6E36392007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9F26ED-FCB3-4A7D-92B7-87DD7CD24F49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D48353-E640-8641-BAE4-760BC461CF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6555AE-07ED-833A-61FE-CB05B252E5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86B7D-3699-4A61-9D39-ABEBA28739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94018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777D61-D1FB-3349-7340-A980572BCD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AFBD50-E3D6-7AD4-B964-0F4CA9B571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9CF209-CD3A-2C00-1AA2-36A904B83F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9F26ED-FCB3-4A7D-92B7-87DD7CD24F49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73D7C7-E816-DB15-B99E-9317B63079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A0FFCC-AFC4-59DB-886F-2177130200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86B7D-3699-4A61-9D39-ABEBA28739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33731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3B60F1-89E8-3505-4596-8FC474E040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FE0EC7-EB27-D256-CB2F-D233259B5F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C0E35A-E8EF-D1BB-AAAA-2C235E4B5A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9F26ED-FCB3-4A7D-92B7-87DD7CD24F49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29D722-89CF-504F-ACDF-1203E9E47A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A98A43-55FC-235E-FA10-40B7A92894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86B7D-3699-4A61-9D39-ABEBA28739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41880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1C1AD0-083A-FDF8-92FE-CCFF170FDB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F2812D-B405-28DD-4B18-38D7FEA840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AB1E40-F1CB-C1CB-13E0-2C92030BD9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C16142-B989-A8FD-CB32-0CA13CFA08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9F26ED-FCB3-4A7D-92B7-87DD7CD24F49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9CD3DA-0466-470D-4ACA-147501EE1A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B53FF5-F9DB-4C13-E738-3D0EB15727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86B7D-3699-4A61-9D39-ABEBA28739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07349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01AC9F-6C0F-E9A5-8A1D-4A13FF6271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8B297D-D24E-DCA2-B471-3A6D5ECCF0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9C18BD-C7F4-E8FF-C870-C42B02E7A0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C65A243-2FCF-682D-C79D-4C0A1C80D2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9834D46-523C-349C-BC9E-4A5012B5B8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4DB15B4-7142-D389-097F-D6DA4BDD91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9F26ED-FCB3-4A7D-92B7-87DD7CD24F49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94C3B0E-76B2-2719-FA4B-F2F9EBEC01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66786E6-DE50-1B01-200C-9F9E96249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86B7D-3699-4A61-9D39-ABEBA28739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31788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1DDB49-D7B8-275D-8F57-83EB7D9EE4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5DD07FE-71E3-508E-CC17-8F48C05ABA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9F26ED-FCB3-4A7D-92B7-87DD7CD24F49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218B0FA-C0CA-6D31-F851-A15E77BCD8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32BA3E-D338-0A36-3420-DD08C29A80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86B7D-3699-4A61-9D39-ABEBA28739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33769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7647976-B655-317A-C6CC-714572B2A6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9F26ED-FCB3-4A7D-92B7-87DD7CD24F49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8108059-D5A1-19A2-68C0-2887C4C618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99AEFE-6817-4CA0-1440-6FF02D66F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86B7D-3699-4A61-9D39-ABEBA28739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00348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8E1838-FC66-048A-E3FE-3F27C40D6D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C7AA67-1082-0F95-E16C-7B3DFA3AAA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820C2A-83EE-2AF0-D61F-CBBC555391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5221E6-E61D-A033-D6D6-49729BFA8B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9F26ED-FCB3-4A7D-92B7-87DD7CD24F49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97B0D9-F380-270A-4445-62998B39BC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D3A403-95C0-DB57-4AF6-46A67FD6C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86B7D-3699-4A61-9D39-ABEBA28739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7118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676058-8B96-A653-0CD7-95CCBEBBBF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ED679D4-6E39-030A-7FDB-BDC329987B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1456ED-E96E-48FD-550C-0604F5595E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E7B891-40C5-4E53-F030-E681636863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9F26ED-FCB3-4A7D-92B7-87DD7CD24F49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4B4A81-9347-673B-3BE3-DEB207B9B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3C19F8-312D-4453-95BE-ECBBA2BF79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86B7D-3699-4A61-9D39-ABEBA28739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63473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F2AE18-EDE5-886C-5102-9EEF9FD4ED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59D696-1945-723B-7FA8-5F72B0D0EB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D715AD-0754-668D-D897-C9E1CBDED1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9F26ED-FCB3-4A7D-92B7-87DD7CD24F49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138B3A-F18D-FBD3-3F35-4FA724C22C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9F42F5-BF1B-3285-2C82-C69A6837C5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86B7D-3699-4A61-9D39-ABEBA28739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99767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F7045A7-BFC9-0FC4-E131-80F59B342AA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379238-4799-3ED7-0F9F-B984545C88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39BBDB-D568-26F1-2BA1-35AE38A076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9F26ED-FCB3-4A7D-92B7-87DD7CD24F49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2B6AFE-9892-473E-630D-6B3842D416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3E12A9-8541-4E40-FB38-A27CB44E96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86B7D-3699-4A61-9D39-ABEBA28739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29890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AACB99D-D9FB-E0D4-2393-93955641FC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988186-17C4-3E4F-D3ED-DCAA0B3F52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7C62D1-A9F9-E382-88B7-D633511902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9F26ED-FCB3-4A7D-92B7-87DD7CD24F49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E4FAF2-C38B-951B-8DF3-3EC326F3B7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B76303-CC05-E305-F5BE-28650FEC4A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D86B7D-3699-4A61-9D39-ABEBA28739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3621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chart" Target="../charts/chart2.xml"/><Relationship Id="rId7" Type="http://schemas.openxmlformats.org/officeDocument/2006/relationships/chart" Target="../charts/chart6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5.xml"/><Relationship Id="rId5" Type="http://schemas.openxmlformats.org/officeDocument/2006/relationships/chart" Target="../charts/chart4.xml"/><Relationship Id="rId10" Type="http://schemas.openxmlformats.org/officeDocument/2006/relationships/image" Target="../media/image3.png"/><Relationship Id="rId4" Type="http://schemas.openxmlformats.org/officeDocument/2006/relationships/chart" Target="../charts/chart3.xml"/><Relationship Id="rId9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F51F5-5505-08B7-7811-CBAD52F0F68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8AF7EA-1C36-B7D9-5FC4-732CDF866C3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EB3DA7B-F801-00C5-A879-18C3E0E595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1431504"/>
              </p:ext>
            </p:extLst>
          </p:nvPr>
        </p:nvGraphicFramePr>
        <p:xfrm>
          <a:off x="0" y="0"/>
          <a:ext cx="12192004" cy="55505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28454">
                  <a:extLst>
                    <a:ext uri="{9D8B030D-6E8A-4147-A177-3AD203B41FA5}">
                      <a16:colId xmlns:a16="http://schemas.microsoft.com/office/drawing/2014/main" val="2994004407"/>
                    </a:ext>
                  </a:extLst>
                </a:gridCol>
                <a:gridCol w="502763">
                  <a:extLst>
                    <a:ext uri="{9D8B030D-6E8A-4147-A177-3AD203B41FA5}">
                      <a16:colId xmlns:a16="http://schemas.microsoft.com/office/drawing/2014/main" val="4010708281"/>
                    </a:ext>
                  </a:extLst>
                </a:gridCol>
                <a:gridCol w="502763">
                  <a:extLst>
                    <a:ext uri="{9D8B030D-6E8A-4147-A177-3AD203B41FA5}">
                      <a16:colId xmlns:a16="http://schemas.microsoft.com/office/drawing/2014/main" val="1016540462"/>
                    </a:ext>
                  </a:extLst>
                </a:gridCol>
                <a:gridCol w="502763">
                  <a:extLst>
                    <a:ext uri="{9D8B030D-6E8A-4147-A177-3AD203B41FA5}">
                      <a16:colId xmlns:a16="http://schemas.microsoft.com/office/drawing/2014/main" val="2170961808"/>
                    </a:ext>
                  </a:extLst>
                </a:gridCol>
                <a:gridCol w="502763">
                  <a:extLst>
                    <a:ext uri="{9D8B030D-6E8A-4147-A177-3AD203B41FA5}">
                      <a16:colId xmlns:a16="http://schemas.microsoft.com/office/drawing/2014/main" val="4124320598"/>
                    </a:ext>
                  </a:extLst>
                </a:gridCol>
                <a:gridCol w="502763">
                  <a:extLst>
                    <a:ext uri="{9D8B030D-6E8A-4147-A177-3AD203B41FA5}">
                      <a16:colId xmlns:a16="http://schemas.microsoft.com/office/drawing/2014/main" val="1371025093"/>
                    </a:ext>
                  </a:extLst>
                </a:gridCol>
                <a:gridCol w="502763">
                  <a:extLst>
                    <a:ext uri="{9D8B030D-6E8A-4147-A177-3AD203B41FA5}">
                      <a16:colId xmlns:a16="http://schemas.microsoft.com/office/drawing/2014/main" val="600692567"/>
                    </a:ext>
                  </a:extLst>
                </a:gridCol>
                <a:gridCol w="502763">
                  <a:extLst>
                    <a:ext uri="{9D8B030D-6E8A-4147-A177-3AD203B41FA5}">
                      <a16:colId xmlns:a16="http://schemas.microsoft.com/office/drawing/2014/main" val="289434609"/>
                    </a:ext>
                  </a:extLst>
                </a:gridCol>
                <a:gridCol w="502763">
                  <a:extLst>
                    <a:ext uri="{9D8B030D-6E8A-4147-A177-3AD203B41FA5}">
                      <a16:colId xmlns:a16="http://schemas.microsoft.com/office/drawing/2014/main" val="132523440"/>
                    </a:ext>
                  </a:extLst>
                </a:gridCol>
                <a:gridCol w="502763">
                  <a:extLst>
                    <a:ext uri="{9D8B030D-6E8A-4147-A177-3AD203B41FA5}">
                      <a16:colId xmlns:a16="http://schemas.microsoft.com/office/drawing/2014/main" val="1778245801"/>
                    </a:ext>
                  </a:extLst>
                </a:gridCol>
                <a:gridCol w="502763">
                  <a:extLst>
                    <a:ext uri="{9D8B030D-6E8A-4147-A177-3AD203B41FA5}">
                      <a16:colId xmlns:a16="http://schemas.microsoft.com/office/drawing/2014/main" val="515858696"/>
                    </a:ext>
                  </a:extLst>
                </a:gridCol>
                <a:gridCol w="502763">
                  <a:extLst>
                    <a:ext uri="{9D8B030D-6E8A-4147-A177-3AD203B41FA5}">
                      <a16:colId xmlns:a16="http://schemas.microsoft.com/office/drawing/2014/main" val="2075781189"/>
                    </a:ext>
                  </a:extLst>
                </a:gridCol>
                <a:gridCol w="502763">
                  <a:extLst>
                    <a:ext uri="{9D8B030D-6E8A-4147-A177-3AD203B41FA5}">
                      <a16:colId xmlns:a16="http://schemas.microsoft.com/office/drawing/2014/main" val="3605281427"/>
                    </a:ext>
                  </a:extLst>
                </a:gridCol>
                <a:gridCol w="502763">
                  <a:extLst>
                    <a:ext uri="{9D8B030D-6E8A-4147-A177-3AD203B41FA5}">
                      <a16:colId xmlns:a16="http://schemas.microsoft.com/office/drawing/2014/main" val="4012035114"/>
                    </a:ext>
                  </a:extLst>
                </a:gridCol>
                <a:gridCol w="502763">
                  <a:extLst>
                    <a:ext uri="{9D8B030D-6E8A-4147-A177-3AD203B41FA5}">
                      <a16:colId xmlns:a16="http://schemas.microsoft.com/office/drawing/2014/main" val="811732780"/>
                    </a:ext>
                  </a:extLst>
                </a:gridCol>
                <a:gridCol w="502763">
                  <a:extLst>
                    <a:ext uri="{9D8B030D-6E8A-4147-A177-3AD203B41FA5}">
                      <a16:colId xmlns:a16="http://schemas.microsoft.com/office/drawing/2014/main" val="120165144"/>
                    </a:ext>
                  </a:extLst>
                </a:gridCol>
                <a:gridCol w="502763">
                  <a:extLst>
                    <a:ext uri="{9D8B030D-6E8A-4147-A177-3AD203B41FA5}">
                      <a16:colId xmlns:a16="http://schemas.microsoft.com/office/drawing/2014/main" val="2857666917"/>
                    </a:ext>
                  </a:extLst>
                </a:gridCol>
                <a:gridCol w="502763">
                  <a:extLst>
                    <a:ext uri="{9D8B030D-6E8A-4147-A177-3AD203B41FA5}">
                      <a16:colId xmlns:a16="http://schemas.microsoft.com/office/drawing/2014/main" val="3079591003"/>
                    </a:ext>
                  </a:extLst>
                </a:gridCol>
                <a:gridCol w="502763">
                  <a:extLst>
                    <a:ext uri="{9D8B030D-6E8A-4147-A177-3AD203B41FA5}">
                      <a16:colId xmlns:a16="http://schemas.microsoft.com/office/drawing/2014/main" val="2267750107"/>
                    </a:ext>
                  </a:extLst>
                </a:gridCol>
                <a:gridCol w="628454">
                  <a:extLst>
                    <a:ext uri="{9D8B030D-6E8A-4147-A177-3AD203B41FA5}">
                      <a16:colId xmlns:a16="http://schemas.microsoft.com/office/drawing/2014/main" val="332470160"/>
                    </a:ext>
                  </a:extLst>
                </a:gridCol>
                <a:gridCol w="628454">
                  <a:extLst>
                    <a:ext uri="{9D8B030D-6E8A-4147-A177-3AD203B41FA5}">
                      <a16:colId xmlns:a16="http://schemas.microsoft.com/office/drawing/2014/main" val="2770679677"/>
                    </a:ext>
                  </a:extLst>
                </a:gridCol>
                <a:gridCol w="628454">
                  <a:extLst>
                    <a:ext uri="{9D8B030D-6E8A-4147-A177-3AD203B41FA5}">
                      <a16:colId xmlns:a16="http://schemas.microsoft.com/office/drawing/2014/main" val="3314921229"/>
                    </a:ext>
                  </a:extLst>
                </a:gridCol>
                <a:gridCol w="628454">
                  <a:extLst>
                    <a:ext uri="{9D8B030D-6E8A-4147-A177-3AD203B41FA5}">
                      <a16:colId xmlns:a16="http://schemas.microsoft.com/office/drawing/2014/main" val="2404846002"/>
                    </a:ext>
                  </a:extLst>
                </a:gridCol>
              </a:tblGrid>
              <a:tr h="341096">
                <a:tc gridSpan="19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500" u="none" strike="noStrike" dirty="0">
                          <a:effectLst/>
                        </a:rPr>
                        <a:t>Vrinda Store Annual Report 2022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800" u="none" strike="noStrike">
                          <a:effectLst/>
                        </a:rPr>
                        <a:t> 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800" u="none" strike="noStrike">
                          <a:effectLst/>
                        </a:rPr>
                        <a:t> 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800" u="none" strike="noStrike">
                          <a:effectLst/>
                        </a:rPr>
                        <a:t> 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800" u="none" strike="noStrike">
                          <a:effectLst/>
                        </a:rPr>
                        <a:t> 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428041435"/>
                  </a:ext>
                </a:extLst>
              </a:tr>
              <a:tr h="18605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800" u="none" strike="noStrike">
                          <a:effectLst/>
                        </a:rPr>
                        <a:t> 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800" u="none" strike="noStrike">
                          <a:effectLst/>
                        </a:rPr>
                        <a:t> 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 rowSpan="27" gridSpan="21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 rowSpan="27"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rowSpan="27"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rowSpan="27"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rowSpan="27"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rowSpan="27"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rowSpan="27"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rowSpan="27"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rowSpan="27"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rowSpan="27"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rowSpan="27"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rowSpan="27"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rowSpan="27"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rowSpan="27"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rowSpan="27"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rowSpan="27"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rowSpan="27"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rowSpan="27"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rowSpan="27"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rowSpan="27"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rowSpan="27"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6192672"/>
                  </a:ext>
                </a:extLst>
              </a:tr>
              <a:tr h="18605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800" u="none" strike="noStrike">
                          <a:effectLst/>
                        </a:rPr>
                        <a:t> 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800" u="none" strike="noStrike">
                          <a:effectLst/>
                        </a:rPr>
                        <a:t> 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 gridSpan="2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497326"/>
                  </a:ext>
                </a:extLst>
              </a:tr>
              <a:tr h="18605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800" u="none" strike="noStrike">
                          <a:effectLst/>
                        </a:rPr>
                        <a:t> 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800" u="none" strike="noStrike">
                          <a:effectLst/>
                        </a:rPr>
                        <a:t> 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 gridSpan="2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1226226"/>
                  </a:ext>
                </a:extLst>
              </a:tr>
              <a:tr h="18605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800" u="none" strike="noStrike">
                          <a:effectLst/>
                        </a:rPr>
                        <a:t> 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800" u="none" strike="noStrike">
                          <a:effectLst/>
                        </a:rPr>
                        <a:t> 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 gridSpan="2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9850473"/>
                  </a:ext>
                </a:extLst>
              </a:tr>
              <a:tr h="18605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800" u="none" strike="noStrike">
                          <a:effectLst/>
                        </a:rPr>
                        <a:t> 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800" u="none" strike="noStrike">
                          <a:effectLst/>
                        </a:rPr>
                        <a:t> 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 gridSpan="2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19464"/>
                  </a:ext>
                </a:extLst>
              </a:tr>
              <a:tr h="18605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800" u="none" strike="noStrike">
                          <a:effectLst/>
                        </a:rPr>
                        <a:t> 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800" u="none" strike="noStrike">
                          <a:effectLst/>
                        </a:rPr>
                        <a:t> 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 gridSpan="2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0409009"/>
                  </a:ext>
                </a:extLst>
              </a:tr>
              <a:tr h="18605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800" u="none" strike="noStrike">
                          <a:effectLst/>
                        </a:rPr>
                        <a:t> 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800" u="none" strike="noStrike">
                          <a:effectLst/>
                        </a:rPr>
                        <a:t> 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 gridSpan="2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2290331"/>
                  </a:ext>
                </a:extLst>
              </a:tr>
              <a:tr h="18605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800" u="none" strike="noStrike">
                          <a:effectLst/>
                        </a:rPr>
                        <a:t> 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800" u="none" strike="noStrike">
                          <a:effectLst/>
                        </a:rPr>
                        <a:t> 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 gridSpan="2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5414234"/>
                  </a:ext>
                </a:extLst>
              </a:tr>
              <a:tr h="18605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800" u="none" strike="noStrike">
                          <a:effectLst/>
                        </a:rPr>
                        <a:t> 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800" u="none" strike="noStrike">
                          <a:effectLst/>
                        </a:rPr>
                        <a:t> 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 gridSpan="2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8267226"/>
                  </a:ext>
                </a:extLst>
              </a:tr>
              <a:tr h="18605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800" u="none" strike="noStrike">
                          <a:effectLst/>
                        </a:rPr>
                        <a:t> 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800" u="none" strike="noStrike">
                          <a:effectLst/>
                        </a:rPr>
                        <a:t> 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 gridSpan="2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5895010"/>
                  </a:ext>
                </a:extLst>
              </a:tr>
              <a:tr h="18605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800" u="none" strike="noStrike">
                          <a:effectLst/>
                        </a:rPr>
                        <a:t> 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800" u="none" strike="noStrike">
                          <a:effectLst/>
                        </a:rPr>
                        <a:t> 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 gridSpan="2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398481"/>
                  </a:ext>
                </a:extLst>
              </a:tr>
              <a:tr h="18605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800" u="none" strike="noStrike">
                          <a:effectLst/>
                        </a:rPr>
                        <a:t> 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800" u="none" strike="noStrike">
                          <a:effectLst/>
                        </a:rPr>
                        <a:t> 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 gridSpan="2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8913557"/>
                  </a:ext>
                </a:extLst>
              </a:tr>
              <a:tr h="18605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800" u="none" strike="noStrike">
                          <a:effectLst/>
                        </a:rPr>
                        <a:t> 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800" u="none" strike="noStrike">
                          <a:effectLst/>
                        </a:rPr>
                        <a:t> 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 gridSpan="2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5441478"/>
                  </a:ext>
                </a:extLst>
              </a:tr>
              <a:tr h="18605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800" u="none" strike="noStrike">
                          <a:effectLst/>
                        </a:rPr>
                        <a:t> 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800" u="none" strike="noStrike">
                          <a:effectLst/>
                        </a:rPr>
                        <a:t> 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 gridSpan="2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4700077"/>
                  </a:ext>
                </a:extLst>
              </a:tr>
              <a:tr h="18605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800" u="none" strike="noStrike">
                          <a:effectLst/>
                        </a:rPr>
                        <a:t> 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800" u="none" strike="noStrike">
                          <a:effectLst/>
                        </a:rPr>
                        <a:t> 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 gridSpan="2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3595759"/>
                  </a:ext>
                </a:extLst>
              </a:tr>
              <a:tr h="18605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800" u="none" strike="noStrike">
                          <a:effectLst/>
                        </a:rPr>
                        <a:t> 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800" u="none" strike="noStrike">
                          <a:effectLst/>
                        </a:rPr>
                        <a:t> 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 gridSpan="2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695363"/>
                  </a:ext>
                </a:extLst>
              </a:tr>
              <a:tr h="18605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800" u="none" strike="noStrike">
                          <a:effectLst/>
                        </a:rPr>
                        <a:t> 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800" u="none" strike="noStrike">
                          <a:effectLst/>
                        </a:rPr>
                        <a:t> 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 gridSpan="2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3358624"/>
                  </a:ext>
                </a:extLst>
              </a:tr>
              <a:tr h="18605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800" u="none" strike="noStrike">
                          <a:effectLst/>
                        </a:rPr>
                        <a:t> 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800" u="none" strike="noStrike">
                          <a:effectLst/>
                        </a:rPr>
                        <a:t> 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 gridSpan="2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065469"/>
                  </a:ext>
                </a:extLst>
              </a:tr>
              <a:tr h="18605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800" u="none" strike="noStrike">
                          <a:effectLst/>
                        </a:rPr>
                        <a:t> 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800" u="none" strike="noStrike">
                          <a:effectLst/>
                        </a:rPr>
                        <a:t> 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 gridSpan="2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7388473"/>
                  </a:ext>
                </a:extLst>
              </a:tr>
              <a:tr h="18605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800" u="none" strike="noStrike">
                          <a:effectLst/>
                        </a:rPr>
                        <a:t> 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800" u="none" strike="noStrike">
                          <a:effectLst/>
                        </a:rPr>
                        <a:t> 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 gridSpan="2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3899740"/>
                  </a:ext>
                </a:extLst>
              </a:tr>
              <a:tr h="18605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800" u="none" strike="noStrike">
                          <a:effectLst/>
                        </a:rPr>
                        <a:t> 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800" u="none" strike="noStrike">
                          <a:effectLst/>
                        </a:rPr>
                        <a:t> 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 gridSpan="2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2094945"/>
                  </a:ext>
                </a:extLst>
              </a:tr>
              <a:tr h="18605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800" u="none" strike="noStrike">
                          <a:effectLst/>
                        </a:rPr>
                        <a:t> 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800" u="none" strike="noStrike">
                          <a:effectLst/>
                        </a:rPr>
                        <a:t> 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 gridSpan="2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6889130"/>
                  </a:ext>
                </a:extLst>
              </a:tr>
              <a:tr h="18605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800" u="none" strike="noStrike">
                          <a:effectLst/>
                        </a:rPr>
                        <a:t> 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800" u="none" strike="noStrike">
                          <a:effectLst/>
                        </a:rPr>
                        <a:t> 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 gridSpan="2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9776532"/>
                  </a:ext>
                </a:extLst>
              </a:tr>
              <a:tr h="18605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800" u="none" strike="noStrike">
                          <a:effectLst/>
                        </a:rPr>
                        <a:t> 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800" u="none" strike="noStrike">
                          <a:effectLst/>
                        </a:rPr>
                        <a:t> 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 gridSpan="2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2140766"/>
                  </a:ext>
                </a:extLst>
              </a:tr>
              <a:tr h="18605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800" u="none" strike="noStrike">
                          <a:effectLst/>
                        </a:rPr>
                        <a:t> 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800" u="none" strike="noStrike">
                          <a:effectLst/>
                        </a:rPr>
                        <a:t> 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 gridSpan="2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0744406"/>
                  </a:ext>
                </a:extLst>
              </a:tr>
              <a:tr h="18605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800" u="none" strike="noStrike">
                          <a:effectLst/>
                        </a:rPr>
                        <a:t> 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800" u="none" strike="noStrike">
                          <a:effectLst/>
                        </a:rPr>
                        <a:t> 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 gridSpan="2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5589393"/>
                  </a:ext>
                </a:extLst>
              </a:tr>
              <a:tr h="18605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800" u="none" strike="noStrike">
                          <a:effectLst/>
                        </a:rPr>
                        <a:t> 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800" u="none" strike="noStrike">
                          <a:effectLst/>
                        </a:rPr>
                        <a:t> 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 gridSpan="2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7190469"/>
                  </a:ext>
                </a:extLst>
              </a:tr>
              <a:tr h="18605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800" u="none" strike="noStrike">
                          <a:effectLst/>
                        </a:rPr>
                        <a:t> 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800" u="none" strike="noStrike">
                          <a:effectLst/>
                        </a:rPr>
                        <a:t> 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800" u="none" strike="noStrike">
                          <a:effectLst/>
                        </a:rPr>
                        <a:t> 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800" u="none" strike="noStrike">
                          <a:effectLst/>
                        </a:rPr>
                        <a:t> 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800" u="none" strike="noStrike">
                          <a:effectLst/>
                        </a:rPr>
                        <a:t> 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800" u="none" strike="noStrike">
                          <a:effectLst/>
                        </a:rPr>
                        <a:t> 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800" u="none" strike="noStrike">
                          <a:effectLst/>
                        </a:rPr>
                        <a:t> 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800" u="none" strike="noStrike">
                          <a:effectLst/>
                        </a:rPr>
                        <a:t> 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800" u="none" strike="noStrike">
                          <a:effectLst/>
                        </a:rPr>
                        <a:t> 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800" u="none" strike="noStrike">
                          <a:effectLst/>
                        </a:rPr>
                        <a:t> 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800" u="none" strike="noStrike">
                          <a:effectLst/>
                        </a:rPr>
                        <a:t> 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800" u="none" strike="noStrike">
                          <a:effectLst/>
                        </a:rPr>
                        <a:t> 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800" u="none" strike="noStrike">
                          <a:effectLst/>
                        </a:rPr>
                        <a:t> 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800" u="none" strike="noStrike">
                          <a:effectLst/>
                        </a:rPr>
                        <a:t> 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800" u="none" strike="noStrike">
                          <a:effectLst/>
                        </a:rPr>
                        <a:t> 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800" u="none" strike="noStrike">
                          <a:effectLst/>
                        </a:rPr>
                        <a:t> 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800" u="none" strike="noStrike">
                          <a:effectLst/>
                        </a:rPr>
                        <a:t> 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800" u="none" strike="noStrike">
                          <a:effectLst/>
                        </a:rPr>
                        <a:t> 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800" u="none" strike="noStrike">
                          <a:effectLst/>
                        </a:rPr>
                        <a:t> 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800" u="none" strike="noStrike">
                          <a:effectLst/>
                        </a:rPr>
                        <a:t> 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800" u="none" strike="noStrike">
                          <a:effectLst/>
                        </a:rPr>
                        <a:t> 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800" u="none" strike="noStrike">
                          <a:effectLst/>
                        </a:rPr>
                        <a:t> 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800" u="none" strike="noStrike" dirty="0">
                          <a:effectLst/>
                        </a:rPr>
                        <a:t> </a:t>
                      </a:r>
                      <a:endParaRPr lang="en-IN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483410960"/>
                  </a:ext>
                </a:extLst>
              </a:tr>
            </a:tbl>
          </a:graphicData>
        </a:graphic>
      </p:graphicFrame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BE051B80-5EEF-498D-8208-2B36B762CA4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31514744"/>
              </p:ext>
            </p:extLst>
          </p:nvPr>
        </p:nvGraphicFramePr>
        <p:xfrm>
          <a:off x="1819276" y="403225"/>
          <a:ext cx="4502150" cy="24955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9978097F-C4F7-40F8-AEE1-4268DD441B6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95811359"/>
              </p:ext>
            </p:extLst>
          </p:nvPr>
        </p:nvGraphicFramePr>
        <p:xfrm>
          <a:off x="7780340" y="339725"/>
          <a:ext cx="4608512" cy="2571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8BE63610-B68A-4C40-A64D-73AA3C2F313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35415449"/>
              </p:ext>
            </p:extLst>
          </p:nvPr>
        </p:nvGraphicFramePr>
        <p:xfrm>
          <a:off x="1370013" y="3067050"/>
          <a:ext cx="4429125" cy="21478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AD12717E-665C-43BE-A9A2-5A16CB0AE81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76027688"/>
              </p:ext>
            </p:extLst>
          </p:nvPr>
        </p:nvGraphicFramePr>
        <p:xfrm>
          <a:off x="6043613" y="3076575"/>
          <a:ext cx="3795713" cy="21558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E979EDAB-B132-4979-B366-9FCD0FD28CD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90216997"/>
              </p:ext>
            </p:extLst>
          </p:nvPr>
        </p:nvGraphicFramePr>
        <p:xfrm>
          <a:off x="9446023" y="3116262"/>
          <a:ext cx="3509962" cy="20716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10" name="Chart 9">
            <a:extLst>
              <a:ext uri="{FF2B5EF4-FFF2-40B4-BE49-F238E27FC236}">
                <a16:creationId xmlns:a16="http://schemas.microsoft.com/office/drawing/2014/main" id="{45F25B83-BDEC-492E-A116-282B3FF7B02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33147329"/>
              </p:ext>
            </p:extLst>
          </p:nvPr>
        </p:nvGraphicFramePr>
        <p:xfrm>
          <a:off x="6096000" y="403225"/>
          <a:ext cx="2951162" cy="24796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pic>
        <p:nvPicPr>
          <p:cNvPr id="11" name="table">
            <a:extLst>
              <a:ext uri="{FF2B5EF4-FFF2-40B4-BE49-F238E27FC236}">
                <a16:creationId xmlns:a16="http://schemas.microsoft.com/office/drawing/2014/main" id="{BE3EEF99-CBEE-928E-C51B-AC1D12C4238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366713"/>
            <a:ext cx="1054101" cy="1354137"/>
          </a:xfrm>
          <a:prstGeom prst="rect">
            <a:avLst/>
          </a:prstGeom>
        </p:spPr>
      </p:pic>
      <p:pic>
        <p:nvPicPr>
          <p:cNvPr id="12" name="table">
            <a:extLst>
              <a:ext uri="{FF2B5EF4-FFF2-40B4-BE49-F238E27FC236}">
                <a16:creationId xmlns:a16="http://schemas.microsoft.com/office/drawing/2014/main" id="{A1634FB3-0200-118A-1B77-E0D76D2B17B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1971675"/>
            <a:ext cx="1036638" cy="1344613"/>
          </a:xfrm>
          <a:prstGeom prst="rect">
            <a:avLst/>
          </a:prstGeom>
        </p:spPr>
      </p:pic>
      <p:pic>
        <p:nvPicPr>
          <p:cNvPr id="13" name="table">
            <a:extLst>
              <a:ext uri="{FF2B5EF4-FFF2-40B4-BE49-F238E27FC236}">
                <a16:creationId xmlns:a16="http://schemas.microsoft.com/office/drawing/2014/main" id="{650C5A2F-A10C-6006-4F62-0B9094E367E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0" y="3519488"/>
            <a:ext cx="1054101" cy="1668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18271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115</Words>
  <Application>Microsoft Office PowerPoint</Application>
  <PresentationFormat>Widescreen</PresentationFormat>
  <Paragraphs>90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Nandish K A</dc:creator>
  <cp:lastModifiedBy>Nandish K A</cp:lastModifiedBy>
  <cp:revision>1</cp:revision>
  <dcterms:created xsi:type="dcterms:W3CDTF">2025-11-28T05:14:24Z</dcterms:created>
  <dcterms:modified xsi:type="dcterms:W3CDTF">2025-11-28T05:17:02Z</dcterms:modified>
</cp:coreProperties>
</file>